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1a6cf2-56dc-7dfa-ffa7-907cb0a6b472}">
          <p14:sldIdLst>
            <p14:sldId id="256"/>
          </p14:sldIdLst>
        </p14:section>
        <p14:section name="Concepts" id="{687e8b27-6cf1-dc99-7c1f-cb0a5633f71c}">
          <p14:sldIdLst>
            <p14:sldId id="257"/>
            <p14:sldId id="258"/>
          </p14:sldIdLst>
        </p14:section>
        <p14:section name="Algorithm" id="{97ca824d-0aa2-066e-2567-24740191771e}">
          <p14:sldIdLst>
            <p14:sldId id="259"/>
            <p14:sldId id="260"/>
            <p14:sldId id="261"/>
          </p14:sldIdLst>
        </p14:section>
        <p14:section name="Analysis" id="{078b31e0-3e9f-4256-ff14-0e875fcc09ba}">
          <p14:sldIdLst>
            <p14:sldId id="262"/>
          </p14:sldIdLst>
        </p14:section>
        <p14:section name="Wrap-up" id="{1be9fbce-825a-4713-e3fb-acb8f731cfc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1097280"/>
            <a:ext cx="45720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Kruskal’s Algorithm  ·  Design and Analysis of Algorithms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KRUSKAL’S ALGORITHM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DESIGN AND ANALYSIS OF ALGORITHMS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Greedy Approach to the Minimum Spanning Tree Problem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42976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32461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Arya Wath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PRN: 25070521160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Semester 3  ·  Section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Design and Analysis of Algorithms (DAA)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Generated using Claude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640080"/>
            <a:ext cx="3566160" cy="384048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5550408" y="1325880"/>
            <a:ext cx="1106424" cy="1106424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1325880"/>
            <a:ext cx="0" cy="2212848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0408" y="2432304"/>
            <a:ext cx="1106424" cy="110642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6832" y="1325880"/>
            <a:ext cx="1508760" cy="301752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656832" y="1627632"/>
            <a:ext cx="1508760" cy="191109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656832" y="3337560"/>
            <a:ext cx="1508760" cy="201168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65592" y="1627632"/>
            <a:ext cx="0" cy="170992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57316" y="1760220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313432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57316" y="2866644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64908" y="1357884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264908" y="2464308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64908" y="3319272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19288" y="2363724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2231136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112471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333756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964424" y="1426464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64424" y="313639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Highlighted edges form the MST  ·  total weight 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Understanding Minimum Spanning Trees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8046720" y="457200"/>
            <a:ext cx="274320" cy="320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57200"/>
            <a:ext cx="27432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046720" y="731520"/>
            <a:ext cx="548640" cy="457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982712" y="71323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7032" y="39319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66751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5331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1280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Graph G = (V, E)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set of vertices V joined by edges 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1828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Vertex and edge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Vertices are points; edges link pairs of them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377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Edge weight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cost or distance attached to an edge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926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Spanning tree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Connects all V vertices with no cycles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474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Minimum spanning tree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spanning tree with the least total weight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438912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08736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 connected graph with V vertices has an MST with exactly V − 1 edges.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1280160"/>
            <a:ext cx="3566160" cy="3337560"/>
          </a:xfrm>
          <a:prstGeom prst="roundRect">
            <a:avLst>
              <a:gd name="adj" fmla="val 2740"/>
            </a:avLst>
          </a:prstGeom>
          <a:solidFill>
            <a:schemeClr val="tx2"/>
          </a:solidFill>
          <a:ln/>
        </p:spPr>
      </p:sp>
      <p:sp>
        <p:nvSpPr>
          <p:cNvPr id="22" name="Shape 20"/>
          <p:cNvSpPr/>
          <p:nvPr/>
        </p:nvSpPr>
        <p:spPr>
          <a:xfrm flipV="1">
            <a:off x="5774436" y="1600200"/>
            <a:ext cx="955548" cy="955548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1600200"/>
            <a:ext cx="0" cy="1911096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74436" y="2555748"/>
            <a:ext cx="955548" cy="955548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9984" y="1600200"/>
            <a:ext cx="1303020" cy="26060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729984" y="1860804"/>
            <a:ext cx="1303020" cy="1650492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6729984" y="3337560"/>
            <a:ext cx="1303020" cy="173736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3004" y="1860804"/>
            <a:ext cx="0" cy="1476756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05906" y="1959102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2436876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05906" y="2914650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235190" y="1611630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35190" y="2567178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235190" y="3305556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886700" y="2480310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573268" y="235458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528816" y="139903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28816" y="3310128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831836" y="1659636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831836" y="313639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394960" y="3840480"/>
            <a:ext cx="146304" cy="14630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96128" y="3794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Vertex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3913632"/>
            <a:ext cx="274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56832" y="37947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Edge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0" y="3803904"/>
            <a:ext cx="256032" cy="201168"/>
          </a:xfrm>
          <a:prstGeom prst="roundRect">
            <a:avLst>
              <a:gd name="adj" fmla="val 27273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644384" y="3794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Weight (cost)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30352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Here V = 5 and E = 7, so the MST has 4 edges.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Introduction to Kruskal’s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8046720" y="457200"/>
            <a:ext cx="274320" cy="320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57200"/>
            <a:ext cx="27432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046720" y="731520"/>
            <a:ext cx="548640" cy="457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982712" y="71323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7032" y="39319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66751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2801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Greedy strategy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Pick the cheapest edge available right now. For MSTs, this local choice is provably part of an optimal solution.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231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Edges in increasing order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The lightest unused edge is always safe to add, so no earlier choice ever has to be undone.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661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Skip cycles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cycle is a redundant link. A tree has exactly V − 1 edges, so any edge closing a loop is rejected.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0" y="1280160"/>
            <a:ext cx="3200400" cy="333756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Edges in sorted order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41848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62472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24344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44968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65592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2212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Green = kept · Red = cycle, rejected · Grey = not needed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Real-world uses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0" y="3154680"/>
            <a:ext cx="365760" cy="3657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8035" y="3253435"/>
            <a:ext cx="168250" cy="16825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12648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Low-cost network design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669280" y="3630168"/>
            <a:ext cx="365760" cy="3657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035" y="3728923"/>
            <a:ext cx="168250" cy="16825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612648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Connecting cities by road or rail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669280" y="4105656"/>
            <a:ext cx="365760" cy="3657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035" y="4204411"/>
            <a:ext cx="168250" cy="16825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126480" y="41056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Cable and pipeline layouts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Algorithm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8046720" y="457200"/>
            <a:ext cx="274320" cy="320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57200"/>
            <a:ext cx="27432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046720" y="731520"/>
            <a:ext cx="548640" cy="457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982712" y="71323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7032" y="39319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66751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54480"/>
            <a:ext cx="12801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554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1. Sort all edges by weight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1554480"/>
            <a:ext cx="12801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1554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2. MST = ∅ (empty)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1554480"/>
            <a:ext cx="128016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1554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3. Take next lightest edge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1371600"/>
            <a:ext cx="1645920" cy="1097280"/>
          </a:xfrm>
          <a:prstGeom prst="diamond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Creates a cycle?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55448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1554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Reject edge (skip it)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49240" y="2926080"/>
            <a:ext cx="155448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Add edge to MST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54680" y="2743200"/>
            <a:ext cx="1828800" cy="1097280"/>
          </a:xfrm>
          <a:prstGeom prst="diamond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2926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MST has V − 1 edges?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25880" y="292608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32588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Return MST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45920" y="1920240"/>
            <a:ext cx="3657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91840" y="1920240"/>
            <a:ext cx="3657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37760" y="1920240"/>
            <a:ext cx="3657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9440" y="1920240"/>
            <a:ext cx="3657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2468880"/>
            <a:ext cx="0" cy="45720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4983480" y="3291840"/>
            <a:ext cx="3657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2788920" y="3291840"/>
            <a:ext cx="3657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4069080" y="2286000"/>
            <a:ext cx="0" cy="45720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949440" y="16459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Yes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2560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788920" y="3017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Yes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160520" y="2377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No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114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Rejected edges go back to the loop: take the next edge until the MST holds V − 1 edges.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Step-by-Step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8046720" y="457200"/>
            <a:ext cx="274320" cy="320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57200"/>
            <a:ext cx="27432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046720" y="731520"/>
            <a:ext cx="548640" cy="457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982712" y="71323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7032" y="39319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66751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8463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82296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— cycle A–B–C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— cycle B–C–D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D–E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— 4 edges 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Final MST edges: A–B, B–C, B–D, C–E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577840" y="1280160"/>
            <a:ext cx="3108960" cy="33375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016752" y="1554480"/>
            <a:ext cx="955548" cy="955548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72300" y="1554480"/>
            <a:ext cx="0" cy="1911096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16752" y="2510028"/>
            <a:ext cx="955548" cy="955548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972300" y="1554480"/>
            <a:ext cx="1303020" cy="260604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972300" y="1815084"/>
            <a:ext cx="1303020" cy="1650492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 flipV="1">
            <a:off x="6972300" y="3291840"/>
            <a:ext cx="1303020" cy="173736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1815084"/>
            <a:ext cx="0" cy="147675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48222" y="1913382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25996" y="2391156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348222" y="2868930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477506" y="1565910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477506" y="2521458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477506" y="3259836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129016" y="2434590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815584" y="230886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771132" y="135331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771132" y="3264408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1613916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309067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669280" y="3840480"/>
            <a:ext cx="201168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16168" y="3730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Selected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37960" y="3840480"/>
            <a:ext cx="201168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784848" y="3730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Rejected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406640" y="3840480"/>
            <a:ext cx="20116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653528" y="3730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Unprocessed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66928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Total weight = 1 + 2 + 4 + 6 = 13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Pseudocode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8046720" y="457200"/>
            <a:ext cx="274320" cy="320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57200"/>
            <a:ext cx="27432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046720" y="731520"/>
            <a:ext cx="548640" cy="457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982712" y="71323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7032" y="39319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66751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120640" cy="3337560"/>
          </a:xfrm>
          <a:prstGeom prst="roundRect">
            <a:avLst>
              <a:gd name="adj" fmla="val 2740"/>
            </a:avLst>
          </a:prstGeom>
          <a:solidFill>
            <a:srgbClr val="0D182E"/>
          </a:solidFill>
          <a:ln w="12700">
            <a:solidFill>
              <a:srgbClr val="1F33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41732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KRUSKAL(G):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 = empty set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all edges by increasing weight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 (u, v):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and v belong to different components: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(u, v) to MST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their components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MST contains V - 1 edges: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280160"/>
            <a:ext cx="2834640" cy="224028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893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Union-Find (DSU)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691640"/>
            <a:ext cx="2606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find(x): returns the set representative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union(x, y): merges two 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Same set ⇒ the edge would form a cycle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Path compression + union by rank: near-constant time per operation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3657600"/>
            <a:ext cx="28346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8932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Sets after steps 1–2 of the example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4069080"/>
            <a:ext cx="960120" cy="36576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{A, B, C}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069080"/>
            <a:ext cx="502920" cy="36576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{D}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4069080"/>
            <a:ext cx="502920" cy="36576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{E}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Complexity and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8046720" y="457200"/>
            <a:ext cx="274320" cy="320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57200"/>
            <a:ext cx="27432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046720" y="731520"/>
            <a:ext cx="548640" cy="457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982712" y="71323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7032" y="39319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66751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 log E)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Dominated by sorting the edges; equals O(E log V).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SPACE COMPLEXITY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 + E)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Graph storage plus Union-Find arrays.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280160"/>
            <a:ext cx="274320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7472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Advantages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1737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Simple to implement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Fast on sparse graphs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Always yields an optimal MST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74320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472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474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Slower on dense graphs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Needs all edges sorted first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Disconnected graph gives a forest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280160"/>
            <a:ext cx="2377440" cy="329184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Applications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1874520"/>
            <a:ext cx="384048" cy="38404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933" y="1978213"/>
            <a:ext cx="176662" cy="17666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995160" y="1828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Network design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Low-cost computer and telecom links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92240" y="2788920"/>
            <a:ext cx="384048" cy="38404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933" y="2892613"/>
            <a:ext cx="176662" cy="17666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99516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Road planning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Connect towns with least road length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492240" y="3703320"/>
            <a:ext cx="384048" cy="38404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933" y="3807013"/>
            <a:ext cx="176662" cy="17666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995160" y="3657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Cable connections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Minimum wiring for power and fibre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 and AI Attribution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8046720" y="457200"/>
            <a:ext cx="274320" cy="320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57200"/>
            <a:ext cx="27432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046720" y="731520"/>
            <a:ext cx="548640" cy="457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982712" y="71323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57032" y="39319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667512"/>
            <a:ext cx="128016" cy="12801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22402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53" y="1493581"/>
            <a:ext cx="176662" cy="17666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78992" y="1389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Greedy approach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Always take the cheapest safe edge.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80360" y="1280160"/>
            <a:ext cx="22402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5" name="Shape 12"/>
          <p:cNvSpPr/>
          <p:nvPr/>
        </p:nvSpPr>
        <p:spPr>
          <a:xfrm>
            <a:off x="3017520" y="1389888"/>
            <a:ext cx="384048" cy="38404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213" y="1493581"/>
            <a:ext cx="176662" cy="17666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02152" y="1389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Cycle avoidance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01752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Union-Find rejects edges inside one component.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2697480"/>
            <a:ext cx="22402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20" name="Shape 16"/>
          <p:cNvSpPr/>
          <p:nvPr/>
        </p:nvSpPr>
        <p:spPr>
          <a:xfrm>
            <a:off x="594360" y="2807208"/>
            <a:ext cx="384048" cy="38404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53" y="2910901"/>
            <a:ext cx="176662" cy="17666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78992" y="2807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MST construction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94360" y="3291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Stops at V − 1 = 4 edges for 5 vertices.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2880360" y="2697480"/>
            <a:ext cx="22402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25" name="Shape 20"/>
          <p:cNvSpPr/>
          <p:nvPr/>
        </p:nvSpPr>
        <p:spPr>
          <a:xfrm>
            <a:off x="3017520" y="2807208"/>
            <a:ext cx="384048" cy="38404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213" y="2910901"/>
            <a:ext cx="176662" cy="17666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502152" y="2807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Example result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3017520" y="3291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A–B, B–C, B–D, C–E give total weight 13.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394960" y="1280160"/>
            <a:ext cx="329184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</p:spPr>
      </p:sp>
      <p:sp>
        <p:nvSpPr>
          <p:cNvPr id="30" name="Shape 24"/>
          <p:cNvSpPr/>
          <p:nvPr/>
        </p:nvSpPr>
        <p:spPr>
          <a:xfrm flipV="1">
            <a:off x="5911596" y="1508760"/>
            <a:ext cx="854964" cy="854964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766560" y="1508760"/>
            <a:ext cx="0" cy="1709928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766560" y="1508760"/>
            <a:ext cx="1165860" cy="233172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 flipV="1">
            <a:off x="6766560" y="3063240"/>
            <a:ext cx="1165860" cy="155448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192774" y="1817370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620256" y="2244852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7203186" y="1506474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7203186" y="3022092"/>
            <a:ext cx="292608" cy="237744"/>
          </a:xfrm>
          <a:prstGeom prst="roundRect">
            <a:avLst>
              <a:gd name="adj" fmla="val 30769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5710428" y="2162556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6565392" y="130759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6565392" y="3017520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7731252" y="1540764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7731252" y="2862072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548640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MST total weight = 13</a:t>
            </a: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4008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Generated using Claude AI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356616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Presented by Arya Wath | PRN: 25070521160 | Semester 3, Section 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548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uskal Navy">
  <a:themeElements>
    <a:clrScheme name="Kruskal Navy">
      <a:dk1>
        <a:srgbClr val="0A1222"/>
      </a:dk1>
      <a:lt1>
        <a:srgbClr val="F2F7FB"/>
      </a:lt1>
      <a:dk2>
        <a:srgbClr val="13213A"/>
      </a:dk2>
      <a:lt2>
        <a:srgbClr val="8FA3BA"/>
      </a:lt2>
      <a:accent1>
        <a:srgbClr val="22D3EE"/>
      </a:accent1>
      <a:accent2>
        <a:srgbClr val="14B8A6"/>
      </a:accent2>
      <a:accent3>
        <a:srgbClr val="34D399"/>
      </a:accent3>
      <a:accent4>
        <a:srgbClr val="F87171"/>
      </a:accent4>
      <a:accent5>
        <a:srgbClr val="64748B"/>
      </a:accent5>
      <a:accent6>
        <a:srgbClr val="FBBF24"/>
      </a:accent6>
      <a:hlink>
        <a:srgbClr val="22D3EE"/>
      </a:hlink>
      <a:folHlink>
        <a:srgbClr val="8FA3BA"/>
      </a:folHlink>
    </a:clrScheme>
    <a:fontScheme name="Kruskal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Kruskal's Algorithm - Minimum Spanning Tree</dc:title>
  <dc:subject>PptxGenJS Presentation</dc:subject>
  <dc:creator>Arya Wath</dc:creator>
  <cp:lastModifiedBy>Arya Wath</cp:lastModifiedBy>
  <cp:revision>1</cp:revision>
  <dcterms:created xsi:type="dcterms:W3CDTF">2026-10-20T10:43:11Z</dcterms:created>
  <dcterms:modified xsi:type="dcterms:W3CDTF">2026-10-20T10:43:11Z</dcterms:modified>
</cp:coreProperties>
</file>